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91440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7680960" cy="1280160"/>
          </a:xfrm>
          <a:prstGeom prst="rect">
            <a:avLst/>
          </a:prstGeom>
          <a:noFill/>
        </p:spPr>
        <p:txBody>
          <a:bodyPr wrap="square">
            <a:spAutoFit/>
          </a:bodyPr>
          <a:lstStyle/>
          <a:p>
            <a:pPr>
              <a:defRPr sz="3600" b="1">
                <a:solidFill>
                  <a:srgbClr val="FFFFFF"/>
                </a:solidFill>
              </a:defRPr>
            </a:pPr>
            <a:r>
              <a:t>QKD Simulation Framework — 40-Minute Presentation Deck</a:t>
            </a:r>
          </a:p>
        </p:txBody>
      </p:sp>
      <p:sp>
        <p:nvSpPr>
          <p:cNvPr id="5" name="TextBox 4"/>
          <p:cNvSpPr txBox="1"/>
          <p:nvPr/>
        </p:nvSpPr>
        <p:spPr>
          <a:xfrm>
            <a:off x="731520" y="2560320"/>
            <a:ext cx="7680960" cy="914400"/>
          </a:xfrm>
          <a:prstGeom prst="rect">
            <a:avLst/>
          </a:prstGeom>
          <a:noFill/>
        </p:spPr>
        <p:txBody>
          <a:bodyPr wrap="square">
            <a:spAutoFit/>
          </a:bodyPr>
          <a:lstStyle/>
          <a:p>
            <a:pPr>
              <a:defRPr sz="2000">
                <a:solidFill>
                  <a:srgbClr val="48CAE4"/>
                </a:solidFill>
              </a:defRPr>
            </a:pPr>
            <a:r>
              <a:t>A Unified Simulation Framework for Discrete-Variable</a:t>
            </a:r>
            <a:br/>
            <a:r>
              <a:t>Quantum Key Distribution</a:t>
            </a:r>
          </a:p>
        </p:txBody>
      </p:sp>
      <p:sp>
        <p:nvSpPr>
          <p:cNvPr id="6" name="TextBox 5"/>
          <p:cNvSpPr txBox="1"/>
          <p:nvPr/>
        </p:nvSpPr>
        <p:spPr>
          <a:xfrm>
            <a:off x="731520" y="4114800"/>
            <a:ext cx="7680960" cy="1097280"/>
          </a:xfrm>
          <a:prstGeom prst="rect">
            <a:avLst/>
          </a:prstGeom>
          <a:noFill/>
        </p:spPr>
        <p:txBody>
          <a:bodyPr wrap="square">
            <a:spAutoFit/>
          </a:bodyPr>
          <a:lstStyle/>
          <a:p>
            <a:pPr>
              <a:spcAft>
                <a:spcPts val="600"/>
              </a:spcAft>
              <a:defRPr sz="1400">
                <a:solidFill>
                  <a:srgbClr val="AAAAAA"/>
                </a:solidFill>
              </a:defRPr>
            </a:pPr>
            <a:r>
              <a:t>Presenter: Reza Aramjou</a:t>
            </a:r>
          </a:p>
          <a:p>
            <a:pPr>
              <a:spcAft>
                <a:spcPts val="600"/>
              </a:spcAft>
              <a:defRPr sz="1400">
                <a:solidFill>
                  <a:srgbClr val="AAAAAA"/>
                </a:solidFill>
              </a:defRPr>
            </a:pPr>
            <a:r>
              <a:t>Date: August 2026</a:t>
            </a:r>
          </a:p>
          <a:p>
            <a:pPr>
              <a:spcAft>
                <a:spcPts val="600"/>
              </a:spcAft>
              <a:defRPr sz="1400">
                <a:solidFill>
                  <a:srgbClr val="AAAAAA"/>
                </a:solidFill>
              </a:defRPr>
            </a:pPr>
            <a:r>
              <a:t>Duration: 40 minutes (18 slides × ~2 min + buffer)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A Comprehensive QKD Simulation Framework — Bridging Quantum Theory and Software Engineering</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A Unified Simulation Framework for Discrete-Variable Quantum Key Distribution</a:t>
            </a:r>
          </a:p>
          <a:p>
            <a:pPr>
              <a:spcAft>
                <a:spcPts val="800"/>
              </a:spcAft>
              <a:defRPr sz="1500">
                <a:solidFill>
                  <a:srgbClr val="F0F0F0"/>
                </a:solidFill>
              </a:defRPr>
            </a:pPr>
            <a:r>
              <a:t>From Optical Pulse Generation to Composable Security Proofs and Network Routing</a:t>
            </a:r>
          </a:p>
          <a:p>
            <a:pPr>
              <a:spcAft>
                <a:spcPts val="800"/>
              </a:spcAft>
              <a:defRPr sz="1500">
                <a:solidFill>
                  <a:srgbClr val="F0F0F0"/>
                </a:solidFill>
              </a:defRPr>
            </a:pPr>
            <a:r>
              <a:t>Reza Aramjou — August 2026</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Good morning, everyone. Thank you for being here. Today I'm going to present a comprehensive simulation framework for Quantum Key Distribution — or QKD — that I have developed over the past several months. This is not merely a key-rate calculator. It is a full-stack research infrastructure that models the entire pipeline from the generation of individual optical pulses, through the physics of fibe…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2</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2</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Motivation — Why QKD Matters Now</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Classical public-key cryptography relies on computational hardness (factoring, discrete log)</a:t>
            </a:r>
          </a:p>
          <a:p>
            <a:pPr>
              <a:spcAft>
                <a:spcPts val="800"/>
              </a:spcAft>
              <a:defRPr sz="1500">
                <a:solidFill>
                  <a:srgbClr val="F0F0F0"/>
                </a:solidFill>
              </a:defRPr>
            </a:pPr>
            <a:r>
              <a:t>Shor's algorithm breaks RSA/ECC in polynomial time on a fault-tolerant quantum computer</a:t>
            </a:r>
          </a:p>
          <a:p>
            <a:pPr>
              <a:spcAft>
                <a:spcPts val="800"/>
              </a:spcAft>
              <a:defRPr sz="1500">
                <a:solidFill>
                  <a:srgbClr val="F0F0F0"/>
                </a:solidFill>
              </a:defRPr>
            </a:pPr>
            <a:r>
              <a:t>"Harvest Now, Decrypt Later": data intercepted today can be decrypted tomorrow</a:t>
            </a:r>
          </a:p>
          <a:p>
            <a:pPr>
              <a:spcAft>
                <a:spcPts val="800"/>
              </a:spcAft>
              <a:defRPr sz="1500">
                <a:solidFill>
                  <a:srgbClr val="F0F0F0"/>
                </a:solidFill>
              </a:defRPr>
            </a:pPr>
            <a:r>
              <a:t>QKD offers information-theoretic security based on the laws of quantum mechanics</a:t>
            </a:r>
          </a:p>
          <a:p>
            <a:pPr>
              <a:spcAft>
                <a:spcPts val="800"/>
              </a:spcAft>
              <a:defRPr sz="1500">
                <a:solidFill>
                  <a:srgbClr val="F0F0F0"/>
                </a:solidFill>
              </a:defRPr>
            </a:pPr>
            <a:r>
              <a:t>Complementary to Post-Quantum Cryptography; QKD + PQC coexist in hybrid architectures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Let me set the stage. The security of virtually all deployed public-key cryptography — RSA, elliptic-curve cryptography — rests on the computational difficulty of factoring large integers or solving discrete logarithms. These are problems that a sufficiently powerful fault-tolerant quantum computer, running Shor's algorithm, can solve in polynomial time. The threat is not merely theoretical. There…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3</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3</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Bridging the Theory–Engineering Divide</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Most tools oversimplify physics or hard-code a single security proof</a:t>
            </a:r>
          </a:p>
          <a:p>
            <a:pPr>
              <a:spcAft>
                <a:spcPts val="800"/>
              </a:spcAft>
              <a:defRPr sz="1500">
                <a:solidFill>
                  <a:srgbClr val="F0F0F0"/>
                </a:solidFill>
              </a:defRPr>
            </a:pPr>
            <a:r>
              <a:t>Real-world effects neglected: dead-time cascades, afterpulsing, DWDM cross-talk</a:t>
            </a:r>
          </a:p>
          <a:p>
            <a:pPr>
              <a:spcAft>
                <a:spcPts val="800"/>
              </a:spcAft>
              <a:defRPr sz="1500">
                <a:solidFill>
                  <a:srgbClr val="F0F0F0"/>
                </a:solidFill>
              </a:defRPr>
            </a:pPr>
            <a:r>
              <a:t>Asymptotic analyses ignore finite-key statistics — essential for practical systems</a:t>
            </a:r>
          </a:p>
          <a:p>
            <a:pPr>
              <a:spcAft>
                <a:spcPts val="800"/>
              </a:spcAft>
              <a:defRPr sz="1500">
                <a:solidFill>
                  <a:srgbClr val="F0F0F0"/>
                </a:solidFill>
              </a:defRPr>
            </a:pPr>
            <a:r>
              <a:t>This framework unifies: rigorous physics + multiple composable proofs + network orchestration</a:t>
            </a:r>
          </a:p>
          <a:p>
            <a:pPr>
              <a:spcAft>
                <a:spcPts val="800"/>
              </a:spcAft>
              <a:defRPr sz="1500">
                <a:solidFill>
                  <a:srgbClr val="F0F0F0"/>
                </a:solidFill>
              </a:defRPr>
            </a:pPr>
            <a:r>
              <a:t>Design principles: layer separation, immutability, fail-fast validation, single source of truth</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There is a substantial gap between how QKD is described in theoretical papers and what is needed to build a trustworthy simulation. Most published protocols derive asymptotic key-rate formulas under idealized assumptions: perfect single-photon sources, detectors with no dead time, infinite pulses. Many existing simulation tools compound the problem by hard-coding a single security proof and using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4</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4</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System Architecture — A Layered, Modular Design</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Physical Layer: Coherent/thermal sources, SNSPD/SPD/PNRD detectors, FiberChannel with Beer-Lambert, noise models</a:t>
            </a:r>
          </a:p>
          <a:p>
            <a:pPr>
              <a:spcAft>
                <a:spcPts val="800"/>
              </a:spcAft>
              <a:defRPr sz="1500">
                <a:solidFill>
                  <a:srgbClr val="F0F0F0"/>
                </a:solidFill>
              </a:defRPr>
            </a:pPr>
            <a:r>
              <a:t>Cryptographic Layer: FiniteKeyProof ABC, four proofs, epsilon-budget allocation, LP parameter optimization</a:t>
            </a:r>
          </a:p>
          <a:p>
            <a:pPr>
              <a:spcAft>
                <a:spcPts val="800"/>
              </a:spcAft>
              <a:defRPr sz="1500">
                <a:solidFill>
                  <a:srgbClr val="F0F0F0"/>
                </a:solidFill>
              </a:defRPr>
            </a:pPr>
            <a:r>
              <a:t>Execution Layer: Parallel workers, log/linear sweeps, auto-optimization via SLSQP, CSV output</a:t>
            </a:r>
          </a:p>
          <a:p>
            <a:pPr>
              <a:spcAft>
                <a:spcPts val="800"/>
              </a:spcAft>
              <a:defRPr sz="1500">
                <a:solidFill>
                  <a:srgbClr val="F0F0F0"/>
                </a:solidFill>
              </a:defRPr>
            </a:pPr>
            <a:r>
              <a:t>Network Layer: 7-node trusted-relay topology, 10 links, 20 key pools, SPF+ routing, failover</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Let me walk you through the four-layer architecture. At the bottom is the Physical Layer, implemented in the qkd Python package — optical source models, detector models including SPD, SNSPD, and PNRD with dead-time and afterpulsing, and the fiber channel with Beer-Lambert attenuation and noise models. Above that sits the Cryptographic Layer, centered on the FiniteKeyProof abstract base class. Ever…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5</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5</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QKDParams — Centralized, Immutable, Validated Configuration</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QKDParams is the single entry point (~1,700 lines, type-driven)</a:t>
            </a:r>
          </a:p>
          <a:p>
            <a:pPr>
              <a:spcAft>
                <a:spcPts val="800"/>
              </a:spcAft>
              <a:defRPr sz="1500">
                <a:solidFill>
                  <a:srgbClr val="F0F0F0"/>
                </a:solidFill>
              </a:defRPr>
            </a:pPr>
            <a:r>
              <a:t>Deep validation of 50+ parameters at construction (fail-fast)</a:t>
            </a:r>
          </a:p>
          <a:p>
            <a:pPr>
              <a:spcAft>
                <a:spcPts val="800"/>
              </a:spcAft>
              <a:defRPr sz="1500">
                <a:solidFill>
                  <a:srgbClr val="F0F0F0"/>
                </a:solidFill>
              </a:defRPr>
            </a:pPr>
            <a:r>
              <a:t>Immutable: @dataclass(frozen=True) — no accidental mutation</a:t>
            </a:r>
          </a:p>
          <a:p>
            <a:pPr>
              <a:spcAft>
                <a:spcPts val="800"/>
              </a:spcAft>
              <a:defRPr sz="1500">
                <a:solidFill>
                  <a:srgbClr val="F0F0F0"/>
                </a:solidFill>
              </a:defRPr>
            </a:pPr>
            <a:r>
              <a:t>Schema versioning (v1.9) ensures cross-version reproducibility</a:t>
            </a:r>
          </a:p>
          <a:p>
            <a:pPr>
              <a:spcAft>
                <a:spcPts val="800"/>
              </a:spcAft>
              <a:defRPr sz="1500">
                <a:solidFill>
                  <a:srgbClr val="F0F0F0"/>
                </a:solidFill>
              </a:defRPr>
            </a:pPr>
            <a:r>
              <a:t>Factory presets reproduce published Lim 2014 benchmarks</a:t>
            </a:r>
          </a:p>
          <a:p>
            <a:pPr>
              <a:spcAft>
                <a:spcPts val="800"/>
              </a:spcAft>
              <a:defRPr sz="1500">
                <a:solidFill>
                  <a:srgbClr val="F0F0F0"/>
                </a:solidFill>
              </a:defRPr>
            </a:pPr>
            <a:r>
              <a:t>Serialization: to_serializable_dict() ↔ from_dict()</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A key architectural decision is the centralization of all configuration into a single, immutable, deeply validated data structure called QKDParams — a frozen Python dataclass over 1,700 lines. When constructed, the _validate() method runs over fifty checks. If any fails, construction raises an explicit exception immediately — fail-fast. The object is frozen after construction. If you need a modifi…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6</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6</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FiberChannel — Immutable Physics with Numerical Safeguards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Core: T = 10^(−αL/10), α ≈ 0.2 dB/km at 1550 nm</a:t>
            </a:r>
          </a:p>
          <a:p>
            <a:pPr>
              <a:spcAft>
                <a:spcPts val="800"/>
              </a:spcAft>
              <a:defRPr sz="1500">
                <a:solidFill>
                  <a:srgbClr val="F0F0F0"/>
                </a:solidFill>
              </a:defRPr>
            </a:pPr>
            <a:r>
              <a:t>All channel objects immutable — frozen dataclass</a:t>
            </a:r>
          </a:p>
          <a:p>
            <a:pPr>
              <a:spcAft>
                <a:spcPts val="800"/>
              </a:spcAft>
              <a:defRPr sz="1500">
                <a:solidFill>
                  <a:srgbClr val="F0F0F0"/>
                </a:solidFill>
              </a:defRPr>
            </a:pPr>
            <a:r>
              <a:t>Numerical safeguards: subnormal clamping, safe_log, underflow detection</a:t>
            </a:r>
          </a:p>
          <a:p>
            <a:pPr>
              <a:spcAft>
                <a:spcPts val="800"/>
              </a:spcAft>
              <a:defRPr sz="1500">
                <a:solidFill>
                  <a:srgbClr val="F0F0F0"/>
                </a:solidFill>
              </a:defRPr>
            </a:pPr>
            <a:r>
              <a:t>Strict mode: warnings → hard exceptions for production</a:t>
            </a:r>
          </a:p>
          <a:p>
            <a:pPr>
              <a:spcAft>
                <a:spcPts val="800"/>
              </a:spcAft>
              <a:defRPr sz="1500">
                <a:solidFill>
                  <a:srgbClr val="F0F0F0"/>
                </a:solidFill>
              </a:defRPr>
            </a:pPr>
            <a:r>
              <a:t>ElectricalNoiseConfig: Johnson-Nyquist + Schottky shot noise</a:t>
            </a:r>
          </a:p>
          <a:p>
            <a:pPr>
              <a:spcAft>
                <a:spcPts val="800"/>
              </a:spcAft>
              <a:defRPr sz="1500">
                <a:solidFill>
                  <a:srgbClr val="F0F0F0"/>
                </a:solidFill>
              </a:defRPr>
            </a:pPr>
            <a:r>
              <a:t>DWDM nonlinear cross-talk for multi-channel</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The fundamental channel model is Beer-Lambert: transmittance T equals ten to the power of negative alpha-L over ten, with alpha approximately 0.2 dB/km at 1550 nm. For long distances beyond 300-400 km, transmittance becomes astronomically small — below IEEE-754 subnormal thresholds — and can underflow to zero, silently corrupting entropy calculations. The framework detects these conditions and 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7</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7</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Optical Sources and Detector Models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Coherent Source: Poisson photon statistics, configurable μ per pulse</a:t>
            </a:r>
          </a:p>
          <a:p>
            <a:pPr>
              <a:spcAft>
                <a:spcPts val="800"/>
              </a:spcAft>
              <a:defRPr sz="1500">
                <a:solidFill>
                  <a:srgbClr val="F0F0F0"/>
                </a:solidFill>
              </a:defRPr>
            </a:pPr>
            <a:r>
              <a:t>Decoy-state: signal (μ ≈ 0.4–0.8), decoy (ν ≈ 0.1–0.2), vacuum</a:t>
            </a:r>
          </a:p>
          <a:p>
            <a:pPr>
              <a:spcAft>
                <a:spcPts val="800"/>
              </a:spcAft>
              <a:defRPr sz="1500">
                <a:solidFill>
                  <a:srgbClr val="F0F0F0"/>
                </a:solidFill>
              </a:defRPr>
            </a:pPr>
            <a:r>
              <a:t>SPD: η ~0.15–0.3, Y₀ ~10⁻⁶/gate, moderate cost</a:t>
            </a:r>
          </a:p>
          <a:p>
            <a:pPr>
              <a:spcAft>
                <a:spcPts val="800"/>
              </a:spcAft>
              <a:defRPr sz="1500">
                <a:solidFill>
                  <a:srgbClr val="F0F0F0"/>
                </a:solidFill>
              </a:defRPr>
            </a:pPr>
            <a:r>
              <a:t>SNSPD: η ~0.5–0.9, Y₀ ~10⁻⁸/gate, cryogenic, best long-distance</a:t>
            </a:r>
          </a:p>
          <a:p>
            <a:pPr>
              <a:spcAft>
                <a:spcPts val="800"/>
              </a:spcAft>
              <a:defRPr sz="1500">
                <a:solidFill>
                  <a:srgbClr val="F0F0F0"/>
                </a:solidFill>
              </a:defRPr>
            </a:pPr>
            <a:r>
              <a:t>PNRD: photon-number-resolving for advanced protocols</a:t>
            </a:r>
          </a:p>
          <a:p>
            <a:pPr>
              <a:spcAft>
                <a:spcPts val="800"/>
              </a:spcAft>
              <a:defRPr sz="1500">
                <a:solidFill>
                  <a:srgbClr val="F0F0F0"/>
                </a:solidFill>
              </a:defRPr>
            </a:pPr>
            <a:r>
              <a:t>All detectors: configurable dead-time models and afterpulsing</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The framework models coherent laser sources with Poisson-distributed photon numbers. For the decoy-state protocol — critical for defeating photon-number-splitting attacks — the source emits at signal, decoy, and vacuum intensities. On the detector side: SPDs with efficiencies around 15-30% and dark counts around 10⁻⁶ per gate; SNSPDs with 50-90% efficiency and dark counts as low as 10⁻⁸ per gate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8</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8</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Protocol Pipeline — From Pulses to Sifted Keys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BB84: Alice prepares Z/X basis; Bob measures randomly</a:t>
            </a:r>
          </a:p>
          <a:p>
            <a:pPr>
              <a:spcAft>
                <a:spcPts val="800"/>
              </a:spcAft>
              <a:defRPr sz="1500">
                <a:solidFill>
                  <a:srgbClr val="F0F0F0"/>
                </a:solidFill>
              </a:defRPr>
            </a:pPr>
            <a:r>
              <a:t>Basis sifting discards ~50% of detections via classical channel</a:t>
            </a:r>
          </a:p>
          <a:p>
            <a:pPr>
              <a:spcAft>
                <a:spcPts val="800"/>
              </a:spcAft>
              <a:defRPr sz="1500">
                <a:solidFill>
                  <a:srgbClr val="F0F0F0"/>
                </a:solidFill>
              </a:defRPr>
            </a:pPr>
            <a:r>
              <a:t>Decoy-state: estimates Y₁ (single-photon yield) and e₁ (error) from intensity statistics</a:t>
            </a:r>
          </a:p>
          <a:p>
            <a:pPr>
              <a:spcAft>
                <a:spcPts val="800"/>
              </a:spcAft>
              <a:defRPr sz="1500">
                <a:solidFill>
                  <a:srgbClr val="F0F0F0"/>
                </a:solidFill>
              </a:defRPr>
            </a:pPr>
            <a:r>
              <a:t>Tally counts by (basis, intensity) pair feed security proofs</a:t>
            </a:r>
          </a:p>
          <a:p>
            <a:pPr>
              <a:spcAft>
                <a:spcPts val="800"/>
              </a:spcAft>
              <a:defRPr sz="1500">
                <a:solidFill>
                  <a:srgbClr val="F0F0F0"/>
                </a:solidFill>
              </a:defRPr>
            </a:pPr>
            <a:r>
              <a:t>ProtocolParameters dataclass provides uniform abstraction</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In the BB84 protocol with decoy states, Alice randomly selects a basis and intensity level each round. Bob independently chooses a measurement basis. After quantum transmission, basis sifting discards mismatched-basis rounds — roughly half. The remaining events are sorted into tally categories by basis and intensity. These tally counts drive the decoy-state analysis: because Eve cannot distinguish…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9</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9</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FiniteKeyProof — The Abstract Security Framework</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All proofs inherit from FiniteKeyProof ABC — uniform interface, comparable outputs</a:t>
            </a:r>
          </a:p>
          <a:p>
            <a:pPr>
              <a:spcAft>
                <a:spcPts val="800"/>
              </a:spcAft>
              <a:defRPr sz="1500">
                <a:solidFill>
                  <a:srgbClr val="F0F0F0"/>
                </a:solidFill>
              </a:defRPr>
            </a:pPr>
            <a:r>
              <a:t>Template Method: compute_key_rate() orchestrates ε-allocation → yield estimation → key-length</a:t>
            </a:r>
          </a:p>
          <a:p>
            <a:pPr>
              <a:spcAft>
                <a:spcPts val="800"/>
              </a:spcAft>
              <a:defRPr sz="1500">
                <a:solidFill>
                  <a:srgbClr val="F0F0F0"/>
                </a:solidFill>
              </a:defRPr>
            </a:pPr>
            <a:r>
              <a:t>Epsilon decomposition: ε_sec divided among error correction, privacy amplification, parameter estimation</a:t>
            </a:r>
          </a:p>
          <a:p>
            <a:pPr>
              <a:spcAft>
                <a:spcPts val="800"/>
              </a:spcAft>
              <a:defRPr sz="1500">
                <a:solidFill>
                  <a:srgbClr val="F0F0F0"/>
                </a:solidFill>
              </a:defRPr>
            </a:pPr>
            <a:r>
              <a:t>TallyCounts: raw (basis, intensity) counts</a:t>
            </a:r>
          </a:p>
          <a:p>
            <a:pPr>
              <a:spcAft>
                <a:spcPts val="800"/>
              </a:spcAft>
              <a:defRPr sz="1500">
                <a:solidFill>
                  <a:srgbClr val="F0F0F0"/>
                </a:solidFill>
              </a:defRPr>
            </a:pPr>
            <a:r>
              <a:t>DecoyEstimates: Y₁^L, e₁^U, feasibility flag</a:t>
            </a:r>
          </a:p>
          <a:p>
            <a:pPr>
              <a:spcAft>
                <a:spcPts val="800"/>
              </a:spcAft>
              <a:defRPr sz="1500">
                <a:solidFill>
                  <a:srgbClr val="F0F0F0"/>
                </a:solidFill>
              </a:defRPr>
            </a:pPr>
            <a:r>
              <a:t>KeyCalculationResult: final secure key length, leak breakdown, diagnostics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All security proofs inherit from a single abstract base class called FiniteKeyProof. This enforces a uniform interface — every proof exposes the same methods and produces the same output data structures, which is essential for fair cross-proof comparisons. The base follows the Template Method pattern. compute_key_rate orchestrates: allocate_epsilons decomposes the total security parameter into sub…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10</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10</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Proof Comparison — Lim 2014, Ma/Wang, and Tight Proof</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Lim 2014: Dedicated + DWDM presets, optimized for realistic fiber</a:t>
            </a:r>
          </a:p>
          <a:p>
            <a:pPr>
              <a:spcAft>
                <a:spcPts val="800"/>
              </a:spcAft>
              <a:defRPr sz="1500">
                <a:solidFill>
                  <a:srgbClr val="F0F0F0"/>
                </a:solidFill>
              </a:defRPr>
            </a:pPr>
            <a:r>
              <a:t>Ma 2005: Foundational decoy-state proof, rigorous Y₁/e₁ framework</a:t>
            </a:r>
          </a:p>
          <a:p>
            <a:pPr>
              <a:spcAft>
                <a:spcPts val="800"/>
              </a:spcAft>
              <a:defRPr sz="1500">
                <a:solidFill>
                  <a:srgbClr val="F0F0F0"/>
                </a:solidFill>
              </a:defRPr>
            </a:pPr>
            <a:r>
              <a:t>Wang 2005: Alternative statistical bounding, different variance treatment</a:t>
            </a:r>
          </a:p>
          <a:p>
            <a:pPr>
              <a:spcAft>
                <a:spcPts val="800"/>
              </a:spcAft>
              <a:defRPr sz="1500">
                <a:solidFill>
                  <a:srgbClr val="F0F0F0"/>
                </a:solidFill>
              </a:defRPr>
            </a:pPr>
            <a:r>
              <a:t>Tight Proof: Asymptotically optimal rates, minimal ε-leakage overhead</a:t>
            </a:r>
          </a:p>
          <a:p>
            <a:pPr>
              <a:spcAft>
                <a:spcPts val="800"/>
              </a:spcAft>
              <a:defRPr sz="1500">
                <a:solidFill>
                  <a:srgbClr val="F0F0F0"/>
                </a:solidFill>
              </a:defRPr>
            </a:pPr>
            <a:r>
              <a:t>All proofs use the same physical simulation engine</a:t>
            </a:r>
          </a:p>
          <a:p>
            <a:pPr>
              <a:spcAft>
                <a:spcPts val="800"/>
              </a:spcAft>
              <a:defRPr sz="1500">
                <a:solidFill>
                  <a:srgbClr val="F0F0F0"/>
                </a:solidFill>
              </a:defRPr>
            </a:pPr>
            <a:r>
              <a:t>Differences attributable solely to cryptographic assumptions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The framework implements four concrete security proofs. The Lim 2014 proof handles both dedicated-fiber and DWDM scenarios with finite-key corrections and factory presets. The Ma 2005 proof provides the foundational decoy-state security analysis. The Wang 2005 proof offers an alternative statistical treatment. The Tight proof achieves rates approaching the asymptotic optimum by minimizing epsilon-…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11</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11</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Linear Programming — Optimizing Protocol Parameters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LP formulation: maximize key rate subject to decoy-state + physical constraints</a:t>
            </a:r>
          </a:p>
          <a:p>
            <a:pPr>
              <a:spcAft>
                <a:spcPts val="800"/>
              </a:spcAft>
              <a:defRPr sz="1500">
                <a:solidFill>
                  <a:srgbClr val="F0F0F0"/>
                </a:solidFill>
              </a:defRPr>
            </a:pPr>
            <a:r>
              <a:t>SLSQP solver (scipy.optimize.minimize) for non-linear extensions</a:t>
            </a:r>
          </a:p>
          <a:p>
            <a:pPr>
              <a:spcAft>
                <a:spcPts val="800"/>
              </a:spcAft>
              <a:defRPr sz="1500">
                <a:solidFill>
                  <a:srgbClr val="F0F0F0"/>
                </a:solidFill>
              </a:defRPr>
            </a:pPr>
            <a:r>
              <a:t>Campaign 4: auto-optimization finds optimal μ, ν, probabilities per distance</a:t>
            </a:r>
          </a:p>
          <a:p>
            <a:pPr>
              <a:spcAft>
                <a:spcPts val="800"/>
              </a:spcAft>
              <a:defRPr sz="1500">
                <a:solidFill>
                  <a:srgbClr val="F0F0F0"/>
                </a:solidFill>
              </a:defRPr>
            </a:pPr>
            <a:r>
              <a:t>Constraints: Y₁ ≥ 0, e₁ ≤ 0.5, μ &gt; ν &gt; 0, Σp = 1.0</a:t>
            </a:r>
          </a:p>
          <a:p>
            <a:pPr>
              <a:spcAft>
                <a:spcPts val="800"/>
              </a:spcAft>
              <a:defRPr sz="1500">
                <a:solidFill>
                  <a:srgbClr val="F0F0F0"/>
                </a:solidFill>
              </a:defRPr>
            </a:pPr>
            <a:r>
              <a:t>Result: ~15–25% key rate improvement over manual parameters at intermediate distances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One of the most powerful features is integrated parameter optimization. Given a fixed fiber length and detector, what combination of intensities maximizes the secure key rate? We formulate this as constrained optimization with SLSQP. The decision variables are source intensities and their probabilities. Constraints come from decoy-state analysis and physical limits. Campaign 4 is dedicated to auto…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12</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12</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Network Layer — Trusted-Relay QKD at Metropolitan Scale</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7 nodes: 4 senders, 2 trusted relays, 1 receiver</a:t>
            </a:r>
          </a:p>
          <a:p>
            <a:pPr>
              <a:spcAft>
                <a:spcPts val="800"/>
              </a:spcAft>
              <a:defRPr sz="1500">
                <a:solidFill>
                  <a:srgbClr val="F0F0F0"/>
                </a:solidFill>
              </a:defRPr>
            </a:pPr>
            <a:r>
              <a:t>10 fiber links, 20 independent key pools (2 per link)</a:t>
            </a:r>
          </a:p>
          <a:p>
            <a:pPr>
              <a:spcAft>
                <a:spcPts val="800"/>
              </a:spcAft>
              <a:defRPr sz="1500">
                <a:solidFill>
                  <a:srgbClr val="F0F0F0"/>
                </a:solidFill>
              </a:defRPr>
            </a:pPr>
            <a:r>
              <a:t>Trusted Relay: key hops through intermediate nodes; relays must be physically secured</a:t>
            </a:r>
          </a:p>
          <a:p>
            <a:pPr>
              <a:spcAft>
                <a:spcPts val="800"/>
              </a:spcAft>
              <a:defRPr sz="1500">
                <a:solidFill>
                  <a:srgbClr val="F0F0F0"/>
                </a:solidFill>
              </a:defRPr>
            </a:pPr>
            <a:r>
              <a:t>Two backends: full pipeline (PipelineQKDLinkSimulator) + analytical fallback</a:t>
            </a:r>
          </a:p>
          <a:p>
            <a:pPr>
              <a:spcAft>
                <a:spcPts val="800"/>
              </a:spcAft>
              <a:defRPr sz="1500">
                <a:solidFill>
                  <a:srgbClr val="F0F0F0"/>
                </a:solidFill>
              </a:defRPr>
            </a:pPr>
            <a:r>
              <a:t>Key pools: LOW watermark triggers replenishment, HIGH stops</a:t>
            </a:r>
          </a:p>
          <a:p>
            <a:pPr>
              <a:spcAft>
                <a:spcPts val="800"/>
              </a:spcAft>
              <a:defRPr sz="1500">
                <a:solidFill>
                  <a:srgbClr val="F0F0F0"/>
                </a:solidFill>
              </a:defRPr>
            </a:pPr>
            <a:r>
              <a:t>Periodic background replenishment keeps all pools healthy</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Scaling up to a full network: a 7-node metropolitan-scale trusted-relay architecture. Four senders — D through G — connect through two relays — B and C — to receiver A, with ten fiber links and twenty key pools. The trusted relay model is the standard practical approach for extending QKD range. Each relay decrypts and re-encrypts key material, so relays must be physically secured. Each key pool ha…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13</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13</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SPF+ — Shortest-Path-First with Key-Pool Awareness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SPF+ extends Dijkstra with dynamic link costs based on key-pool fill ratio</a:t>
            </a:r>
          </a:p>
          <a:p>
            <a:pPr>
              <a:spcAft>
                <a:spcPts val="800"/>
              </a:spcAft>
              <a:defRPr sz="1500">
                <a:solidFill>
                  <a:srgbClr val="F0F0F0"/>
                </a:solidFill>
              </a:defRPr>
            </a:pPr>
            <a:r>
              <a:t>Link cost = base metric + penalty ∝ 1/(fill ratio)</a:t>
            </a:r>
          </a:p>
          <a:p>
            <a:pPr>
              <a:spcAft>
                <a:spcPts val="800"/>
              </a:spcAft>
              <a:defRPr sz="1500">
                <a:solidFill>
                  <a:srgbClr val="F0F0F0"/>
                </a:solidFill>
              </a:defRPr>
            </a:pPr>
            <a:r>
              <a:t>Depleted pools → cost = ∞ → link excluded</a:t>
            </a:r>
          </a:p>
          <a:p>
            <a:pPr>
              <a:spcAft>
                <a:spcPts val="800"/>
              </a:spcAft>
              <a:defRPr sz="1500">
                <a:solidFill>
                  <a:srgbClr val="F0F0F0"/>
                </a:solidFill>
              </a:defRPr>
            </a:pPr>
            <a:r>
              <a:t>Automatic failover: DOWN link → immediate SPF+ recalculation</a:t>
            </a:r>
          </a:p>
          <a:p>
            <a:pPr>
              <a:spcAft>
                <a:spcPts val="800"/>
              </a:spcAft>
              <a:defRPr sz="1500">
                <a:solidFill>
                  <a:srgbClr val="F0F0F0"/>
                </a:solidFill>
              </a:defRPr>
            </a:pPr>
            <a:r>
              <a:t>Complexity: O((V+E) log V) ≈ 50 ops per request — negligible</a:t>
            </a:r>
          </a:p>
          <a:p>
            <a:pPr>
              <a:spcAft>
                <a:spcPts val="800"/>
              </a:spcAft>
              <a:defRPr sz="1500">
                <a:solidFill>
                  <a:srgbClr val="F0F0F0"/>
                </a:solidFill>
              </a:defRPr>
            </a:pPr>
            <a:r>
              <a:t>Demo: B-D failure → D-A reroutes via C, then recovery</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SPF+ extends Dijkstra with dynamic costs based on key-pool availability. When a pool is full, cost equals base metric. As it drains, a penalty inversely proportional to fill ratio increases cost. Below CRITICAL watermark, cost becomes infinity, removing the link. This provides automatic load balancing and failover. In the demo, link B-D fails — D-to-A requests automatically reroute through C. Afte…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14</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14</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Validation Strategy — Physics Benchmarks and Cryptographic Checks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Physical invariants: monotonicity, round-trip symmetry, noise additivity</a:t>
            </a:r>
          </a:p>
          <a:p>
            <a:pPr>
              <a:spcAft>
                <a:spcPts val="800"/>
              </a:spcAft>
              <a:defRPr sz="1500">
                <a:solidFill>
                  <a:srgbClr val="F0F0F0"/>
                </a:solidFill>
              </a:defRPr>
            </a:pPr>
            <a:r>
              <a:t>Beer-Lambert validated 0–500 km, relative error &lt; 10⁻¹²</a:t>
            </a:r>
          </a:p>
          <a:p>
            <a:pPr>
              <a:spcAft>
                <a:spcPts val="800"/>
              </a:spcAft>
              <a:defRPr sz="1500">
                <a:solidFill>
                  <a:srgbClr val="F0F0F0"/>
                </a:solidFill>
              </a:defRPr>
            </a:pPr>
            <a:r>
              <a:t>Rogers et al. benchmark: reproduced published key-rate curves (Campaign 9)</a:t>
            </a:r>
          </a:p>
          <a:p>
            <a:pPr>
              <a:spcAft>
                <a:spcPts val="800"/>
              </a:spcAft>
              <a:defRPr sz="1500">
                <a:solidFill>
                  <a:srgbClr val="F0F0F0"/>
                </a:solidFill>
              </a:defRPr>
            </a:pPr>
            <a:r>
              <a:t>Epsilon self-consistency: Σ ε_i ≤ ε_sec for all proofs</a:t>
            </a:r>
          </a:p>
          <a:p>
            <a:pPr>
              <a:spcAft>
                <a:spcPts val="800"/>
              </a:spcAft>
              <a:defRPr sz="1500">
                <a:solidFill>
                  <a:srgbClr val="F0F0F0"/>
                </a:solidFill>
              </a:defRPr>
            </a:pPr>
            <a:r>
              <a:t>Y₁/e₁ estimates verified against analytical asymptotic bounds</a:t>
            </a:r>
          </a:p>
          <a:p>
            <a:pPr>
              <a:spcAft>
                <a:spcPts val="800"/>
              </a:spcAft>
              <a:defRPr sz="1500">
                <a:solidFill>
                  <a:srgbClr val="F0F0F0"/>
                </a:solidFill>
              </a:defRPr>
            </a:pPr>
            <a:r>
              <a:t>50+ parameter checks in QKDParams._validate()</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Validation is built into every layer. Physical invariants: transmittance must decrease monotonically, round-trip must recover original transmittance, noise variances must add linearly. Beer-Lambert implementation validated against closed form across 0–500 km with relative errors below 10⁻¹². Cryptographic validation: Campaign 9 reproduces the Rogers et al. reference curves for decoy-state BB84 — 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15</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15</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Software Validation — Concurrency and LP Solver Integrity</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Worker isolation: sub-counts sum to single-worker total</a:t>
            </a:r>
          </a:p>
          <a:p>
            <a:pPr>
              <a:spcAft>
                <a:spcPts val="800"/>
              </a:spcAft>
              <a:defRPr sz="1500">
                <a:solidFill>
                  <a:srgbClr val="F0F0F0"/>
                </a:solidFill>
              </a:defRPr>
            </a:pPr>
            <a:r>
              <a:t>Deterministic reproducibility: fixed seed → bit-identical CSV with 1/2/4/8 workers</a:t>
            </a:r>
          </a:p>
          <a:p>
            <a:pPr>
              <a:spcAft>
                <a:spcPts val="800"/>
              </a:spcAft>
              <a:defRPr sz="1500">
                <a:solidFill>
                  <a:srgbClr val="F0F0F0"/>
                </a:solidFill>
              </a:defRPr>
            </a:pPr>
            <a:r>
              <a:t>Key-pool atomicity: concurrent ops maintain total key count invariant</a:t>
            </a:r>
          </a:p>
          <a:p>
            <a:pPr>
              <a:spcAft>
                <a:spcPts val="800"/>
              </a:spcAft>
              <a:defRPr sz="1500">
                <a:solidFill>
                  <a:srgbClr val="F0F0F0"/>
                </a:solidFill>
              </a:defRPr>
            </a:pPr>
            <a:r>
              <a:t>LP solver: 20+ test cases — simple, degenerate, decoy-state</a:t>
            </a:r>
          </a:p>
          <a:p>
            <a:pPr>
              <a:spcAft>
                <a:spcPts val="800"/>
              </a:spcAft>
              <a:defRPr sz="1500">
                <a:solidFill>
                  <a:srgbClr val="F0F0F0"/>
                </a:solidFill>
              </a:defRPr>
            </a:pPr>
            <a:r>
              <a:t>Failure injection: infeasible, unbounded, ill-conditioned → graceful diagnostics</a:t>
            </a:r>
          </a:p>
          <a:p>
            <a:pPr>
              <a:spcAft>
                <a:spcPts val="800"/>
              </a:spcAft>
              <a:defRPr sz="1500">
                <a:solidFill>
                  <a:srgbClr val="F0F0F0"/>
                </a:solidFill>
              </a:defRPr>
            </a:pPr>
            <a:r>
              <a:t>SolverDiagnostics dataclass captures status, iterations, violations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Beyond physics and cryptography, the framework undergoes rigorous software validation. Concurrency tests verify worker isolation, deterministic reproducibility with fixed seeds regardless of worker count, and key-pool atomicity under concurrent access. The LP solver is validated against over twenty test cases — simple problems with known optima, decoy-state estimation problems, degenerate cases, 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16</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16</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Ten Campaigns, ~1,800 Simulation Points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C1: BB84+Lim2014 baseline — 96 pts (distance sweep)</a:t>
            </a:r>
          </a:p>
          <a:p>
            <a:pPr>
              <a:spcAft>
                <a:spcPts val="800"/>
              </a:spcAft>
              <a:defRPr sz="1500">
                <a:solidFill>
                  <a:srgbClr val="F0F0F0"/>
                </a:solidFill>
              </a:defRPr>
            </a:pPr>
            <a:r>
              <a:t>C2: Finite-key scaling — 288 pts (pulses 10⁴→10⁸ × distance)</a:t>
            </a:r>
          </a:p>
          <a:p>
            <a:pPr>
              <a:spcAft>
                <a:spcPts val="800"/>
              </a:spcAft>
              <a:defRPr sz="1500">
                <a:solidFill>
                  <a:srgbClr val="F0F0F0"/>
                </a:solidFill>
              </a:defRPr>
            </a:pPr>
            <a:r>
              <a:t>C3: DWDM multi-channel — 288 pts (power −20/−34/−40 dBm)</a:t>
            </a:r>
          </a:p>
          <a:p>
            <a:pPr>
              <a:spcAft>
                <a:spcPts val="800"/>
              </a:spcAft>
              <a:defRPr sz="1500">
                <a:solidFill>
                  <a:srgbClr val="F0F0F0"/>
                </a:solidFill>
              </a:defRPr>
            </a:pPr>
            <a:r>
              <a:t>C4: Auto-optimized (SLSQP) — 96 pts</a:t>
            </a:r>
          </a:p>
          <a:p>
            <a:pPr>
              <a:spcAft>
                <a:spcPts val="800"/>
              </a:spcAft>
              <a:defRPr sz="1500">
                <a:solidFill>
                  <a:srgbClr val="F0F0F0"/>
                </a:solidFill>
              </a:defRPr>
            </a:pPr>
            <a:r>
              <a:t>C5: 4-protocol comparison — 384 pts</a:t>
            </a:r>
          </a:p>
          <a:p>
            <a:pPr>
              <a:spcAft>
                <a:spcPts val="800"/>
              </a:spcAft>
              <a:defRPr sz="1500">
                <a:solidFill>
                  <a:srgbClr val="F0F0F0"/>
                </a:solidFill>
              </a:defRPr>
            </a:pPr>
            <a:r>
              <a:t>C6: 4-proof comparison — 384 pts</a:t>
            </a:r>
          </a:p>
          <a:p>
            <a:pPr>
              <a:spcAft>
                <a:spcPts val="800"/>
              </a:spcAft>
              <a:defRPr sz="1500">
                <a:solidFill>
                  <a:srgbClr val="F0F0F0"/>
                </a:solidFill>
              </a:defRPr>
            </a:pPr>
            <a:r>
              <a:t>C7: 3-detector comparison — 288 pts</a:t>
            </a:r>
          </a:p>
          <a:p>
            <a:pPr>
              <a:spcAft>
                <a:spcPts val="800"/>
              </a:spcAft>
              <a:defRPr sz="1500">
                <a:solidFill>
                  <a:srgbClr val="F0F0F0"/>
                </a:solidFill>
              </a:defRPr>
            </a:pPr>
            <a:r>
              <a:t>C8: Confidence-bound comparison — 288 pts</a:t>
            </a:r>
          </a:p>
          <a:p>
            <a:pPr>
              <a:spcAft>
                <a:spcPts val="800"/>
              </a:spcAft>
              <a:defRPr sz="1500">
                <a:solidFill>
                  <a:srgbClr val="F0F0F0"/>
                </a:solidFill>
              </a:defRPr>
            </a:pPr>
            <a:r>
              <a:t>C9: Rogers et al. validation — 96 pts</a:t>
            </a:r>
          </a:p>
          <a:p>
            <a:pPr>
              <a:spcAft>
                <a:spcPts val="800"/>
              </a:spcAft>
              <a:defRPr sz="1500">
                <a:solidFill>
                  <a:srgbClr val="F0F0F0"/>
                </a:solidFill>
              </a:defRPr>
            </a:pPr>
            <a:r>
              <a:t>C10: Sensitivity (QBER × misalignment) grid</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The framework was exercised through ten distinct simulation campaigns totaling approximately 1,800 points. Each point is a complete run: pulse generation, channel transmission, realistic detection, basis sifting, statistical parameter estimation, decoy-state LP, and finite-key security proof. Campaigns 1-4 cover baselines, scaling, DWDM, and optimization. Campaigns 5-8 perform controlled compariso…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17</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17</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Key Findings — What the Simulations Tell Us</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Detectors: SNSPD doubles secure range vs SPD; PNRD for advanced protocols</a:t>
            </a:r>
          </a:p>
          <a:p>
            <a:pPr>
              <a:spcAft>
                <a:spcPts val="800"/>
              </a:spcAft>
              <a:defRPr sz="1500">
                <a:solidFill>
                  <a:srgbClr val="F0F0F0"/>
                </a:solidFill>
              </a:defRPr>
            </a:pPr>
            <a:r>
              <a:t>Protocols: Decoy-state BB84 outperforms non-decoy variants</a:t>
            </a:r>
          </a:p>
          <a:p>
            <a:pPr>
              <a:spcAft>
                <a:spcPts val="800"/>
              </a:spcAft>
              <a:defRPr sz="1500">
                <a:solidFill>
                  <a:srgbClr val="F0F0F0"/>
                </a:solidFill>
              </a:defRPr>
            </a:pPr>
            <a:r>
              <a:t>Proofs: Tight proof yields ~10–15% higher rate than Lim 2014; Ma/Wang intermediate</a:t>
            </a:r>
          </a:p>
          <a:p>
            <a:pPr>
              <a:spcAft>
                <a:spcPts val="800"/>
              </a:spcAft>
              <a:defRPr sz="1500">
                <a:solidFill>
                  <a:srgbClr val="F0F0F0"/>
                </a:solidFill>
              </a:defRPr>
            </a:pPr>
            <a:r>
              <a:t>Confidence: Clopper-Pearson most conservative; Gaussian maximizes rate for large N</a:t>
            </a:r>
          </a:p>
          <a:p>
            <a:pPr>
              <a:spcAft>
                <a:spcPts val="800"/>
              </a:spcAft>
              <a:defRPr sz="1500">
                <a:solidFill>
                  <a:srgbClr val="F0F0F0"/>
                </a:solidFill>
              </a:defRPr>
            </a:pPr>
            <a:r>
              <a:t>Sensitivity: 0.01 rad misalignment → 50% key rate reduction</a:t>
            </a:r>
          </a:p>
          <a:p>
            <a:pPr>
              <a:spcAft>
                <a:spcPts val="800"/>
              </a:spcAft>
              <a:defRPr sz="1500">
                <a:solidFill>
                  <a:srgbClr val="F0F0F0"/>
                </a:solidFill>
              </a:defRPr>
            </a:pPr>
            <a:r>
              <a:t>Optimization: SLSQP-optimized intensities → 15–25% improvement at intermediate distances</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Key findings. Detectors: SNSPDs double the secure distance versus SPDs, primarily due to thousand-fold lower dark counts. Proofs: the Tight proof achieves 10-15% higher key rates than Lim 2014 at equivalent security — tighter statistical bounds directly translate to performance. Confidence methods: Clopper-Pearson is most conservative; Gaussian maximizes rates for large N. For N below 10⁵, Clopper…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0" y="137160"/>
            <a:ext cx="1828800" cy="274320"/>
          </a:xfrm>
          <a:prstGeom prst="rect">
            <a:avLst/>
          </a:prstGeom>
          <a:noFill/>
        </p:spPr>
        <p:txBody>
          <a:bodyPr wrap="none">
            <a:spAutoFit/>
          </a:bodyPr>
          <a:lstStyle/>
          <a:p>
            <a:pPr algn="r">
              <a:defRPr sz="800" b="1">
                <a:solidFill>
                  <a:srgbClr val="00B4D8"/>
                </a:solidFill>
              </a:defRPr>
            </a:pPr>
            <a:r>
              <a:t>SLIDE 18</a:t>
            </a:r>
          </a:p>
        </p:txBody>
      </p:sp>
      <p:sp>
        <p:nvSpPr>
          <p:cNvPr id="4" name="TextBox 3"/>
          <p:cNvSpPr txBox="1"/>
          <p:nvPr/>
        </p:nvSpPr>
        <p:spPr>
          <a:xfrm>
            <a:off x="8412480" y="6400800"/>
            <a:ext cx="548640" cy="365760"/>
          </a:xfrm>
          <a:prstGeom prst="rect">
            <a:avLst/>
          </a:prstGeom>
          <a:noFill/>
        </p:spPr>
        <p:txBody>
          <a:bodyPr wrap="none">
            <a:spAutoFit/>
          </a:bodyPr>
          <a:lstStyle/>
          <a:p>
            <a:pPr algn="r">
              <a:defRPr sz="1000">
                <a:solidFill>
                  <a:srgbClr val="90ADC2"/>
                </a:solidFill>
              </a:defRPr>
            </a:pPr>
            <a:r>
              <a:t>18</a:t>
            </a:r>
          </a:p>
        </p:txBody>
      </p:sp>
      <p:sp>
        <p:nvSpPr>
          <p:cNvPr id="5" name="TextBox 4"/>
          <p:cNvSpPr txBox="1"/>
          <p:nvPr/>
        </p:nvSpPr>
        <p:spPr>
          <a:xfrm>
            <a:off x="548640" y="365760"/>
            <a:ext cx="8046720" cy="640080"/>
          </a:xfrm>
          <a:prstGeom prst="rect">
            <a:avLst/>
          </a:prstGeom>
          <a:noFill/>
        </p:spPr>
        <p:txBody>
          <a:bodyPr wrap="square">
            <a:spAutoFit/>
          </a:bodyPr>
          <a:lstStyle/>
          <a:p>
            <a:pPr>
              <a:defRPr sz="2600" b="1">
                <a:solidFill>
                  <a:srgbClr val="FFD166"/>
                </a:solidFill>
              </a:defRPr>
            </a:pPr>
            <a:r>
              <a:t>Summary and Outlook</a:t>
            </a:r>
          </a:p>
        </p:txBody>
      </p:sp>
      <p:sp>
        <p:nvSpPr>
          <p:cNvPr id="6" name="Rectangle 5"/>
          <p:cNvSpPr/>
          <p:nvPr/>
        </p:nvSpPr>
        <p:spPr>
          <a:xfrm>
            <a:off x="548640" y="1051560"/>
            <a:ext cx="22860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046720" cy="2743200"/>
          </a:xfrm>
          <a:prstGeom prst="rect">
            <a:avLst/>
          </a:prstGeom>
          <a:noFill/>
        </p:spPr>
        <p:txBody>
          <a:bodyPr wrap="square">
            <a:spAutoFit/>
          </a:bodyPr>
          <a:lstStyle/>
          <a:p>
            <a:pPr>
              <a:spcAft>
                <a:spcPts val="800"/>
              </a:spcAft>
              <a:defRPr sz="1500">
                <a:solidFill>
                  <a:srgbClr val="F0F0F0"/>
                </a:solidFill>
              </a:defRPr>
            </a:pPr>
            <a:r>
              <a:t>Framework: Complete DV-QKD infrastructure — 4 layers, 4 proofs, 3 detector types, 7-node network</a:t>
            </a:r>
          </a:p>
          <a:p>
            <a:pPr>
              <a:spcAft>
                <a:spcPts val="800"/>
              </a:spcAft>
              <a:defRPr sz="1500">
                <a:solidFill>
                  <a:srgbClr val="F0F0F0"/>
                </a:solidFill>
              </a:defRPr>
            </a:pPr>
            <a:r>
              <a:t>Engineering: Immutable config, fail-fast validation, composable contracts, deterministic reproducibility</a:t>
            </a:r>
          </a:p>
          <a:p>
            <a:pPr>
              <a:spcAft>
                <a:spcPts val="800"/>
              </a:spcAft>
              <a:defRPr sz="1500">
                <a:solidFill>
                  <a:srgbClr val="F0F0F0"/>
                </a:solidFill>
              </a:defRPr>
            </a:pPr>
            <a:r>
              <a:t>Validation: Physics benchmarks, crypto cross-checks, Rogers reproduction, concurrency correctness</a:t>
            </a:r>
          </a:p>
          <a:p>
            <a:pPr>
              <a:spcAft>
                <a:spcPts val="800"/>
              </a:spcAft>
              <a:defRPr sz="1500">
                <a:solidFill>
                  <a:srgbClr val="F0F0F0"/>
                </a:solidFill>
              </a:defRPr>
            </a:pPr>
            <a:r>
              <a:t>Key Insight: SNSPD + Tight proof + optimized intensities = best practical performance</a:t>
            </a:r>
          </a:p>
          <a:p>
            <a:pPr>
              <a:spcAft>
                <a:spcPts val="800"/>
              </a:spcAft>
              <a:defRPr sz="1500">
                <a:solidFill>
                  <a:srgbClr val="F0F0F0"/>
                </a:solidFill>
              </a:defRPr>
            </a:pPr>
            <a:r>
              <a:t>Future: MDI-QKD, quantum repeaters, real-time KMS, ML optimization, CV-QKD extension</a:t>
            </a:r>
          </a:p>
        </p:txBody>
      </p:sp>
      <p:sp>
        <p:nvSpPr>
          <p:cNvPr id="8" name="TextBox 7"/>
          <p:cNvSpPr txBox="1"/>
          <p:nvPr/>
        </p:nvSpPr>
        <p:spPr>
          <a:xfrm>
            <a:off x="548640" y="4389120"/>
            <a:ext cx="8046720" cy="1828800"/>
          </a:xfrm>
          <a:prstGeom prst="rect">
            <a:avLst/>
          </a:prstGeom>
          <a:noFill/>
        </p:spPr>
        <p:txBody>
          <a:bodyPr wrap="square">
            <a:spAutoFit/>
          </a:bodyPr>
          <a:lstStyle/>
          <a:p>
            <a:pPr>
              <a:defRPr sz="1000" i="1">
                <a:solidFill>
                  <a:srgbClr val="AAAAAA"/>
                </a:solidFill>
              </a:defRPr>
            </a:pPr>
            <a:r>
              <a:t>🎤 Let me conclude. I have presented a comprehensive DV-QKD simulation framework spanning four architectural layers, four composable security proofs, three detector types with realistic imperfections, and a 7-node trusted-relay network with key-pool-aware routing. The framework is engineered with production scientific software rigor. The key practical insight: combine SNSPD detectors with the Tight 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